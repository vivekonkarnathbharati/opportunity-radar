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Host Grotesk"/>
      <p:regular r:id="rId201314"/>
    </p:embeddedFont>
    <p:embeddedFont>
      <p:font typeface="Host Grotesk SemiBold"/>
      <p:regular r:id="rId201315"/>
    </p:embeddedFont>
    <p:embeddedFont>
      <p:font typeface="Host Grotesk Bold"/>
      <p:regular r:id="rId201316"/>
    </p:embeddedFont>
    <p:embeddedFont>
      <p:font typeface="Space Grotesk Medium"/>
      <p:regular r:id="rId201317"/>
    </p:embeddedFont>
    <p:embeddedFont>
      <p:font typeface="Space Mono"/>
      <p:regular r:id="rId201318"/>
    </p:embeddedFont>
    <p:embeddedFont>
      <p:font typeface="Space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7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7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tudent-career-match-qpr9.bolt.host" TargetMode="External"/><Relationship Id="rId2" Type="http://schemas.openxmlformats.org/officeDocument/2006/relationships/hyperlink" Target="https://github.com/vivekonkarnathbharati/opportunity-radar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117600"/>
            <a:ext cx="8889778" cy="3643511"/>
          </a:xfrm>
          <a:prstGeom prst="roundRect">
            <a:avLst>
              <a:gd name="adj" fmla="val 784"/>
            </a:avLst>
          </a:prstGeom>
          <a:solidFill>
            <a:srgbClr val="141C3E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422400"/>
            <a:ext cx="8788180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21" kern="0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OpportunityRadar </a:t>
            </a:r>
            <a:pPr algn="l" indent="0" marL="0">
              <a:lnSpc>
                <a:spcPct val="108000"/>
              </a:lnSpc>
              <a:buNone/>
            </a:pPr>
            <a:r>
              <a:rPr lang="en-US" sz="1050" spc="2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5176" y="1681460"/>
            <a:ext cx="8178595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144" kern="0" dirty="0">
                <a:solidFill>
                  <a:srgbClr val="DDE0E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OpportunityRadar </a:t>
            </a:r>
            <a:pPr algn="l" indent="0" marL="0">
              <a:lnSpc>
                <a:spcPct val="88000"/>
              </a:lnSpc>
              <a:buNone/>
            </a:pPr>
            <a:r>
              <a:rPr lang="en-US" sz="4800" spc="-14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65176" y="2499320"/>
            <a:ext cx="817859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spc="-34" kern="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Intelligent Student Opportunity &amp; Career Matcher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5176" y="2922786"/>
            <a:ext cx="8178595" cy="153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DDE0E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Problem Statement: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Problem Statement 1 — Smart Student Opportunity &amp; Career Matcher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DDE0E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Presenter: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Vivek Onkarnath Bharati | PW IOI, Pune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DDE0E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Live Demo: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u="sng" dirty="0">
                <a:solidFill>
                  <a:srgbClr val="FF3FB4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student-career-match-qpr9.bolt.host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DDE0E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Repository: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u="sng" dirty="0">
                <a:solidFill>
                  <a:srgbClr val="FF3FB4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github.com/vivekonkarnathbharati/opportunity-radar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0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747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651000"/>
            <a:ext cx="3352716" cy="4597400"/>
          </a:xfrm>
          <a:prstGeom prst="roundRect">
            <a:avLst>
              <a:gd name="adj" fmla="val 852"/>
            </a:avLst>
          </a:prstGeom>
          <a:solidFill>
            <a:srgbClr val="292E43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3034308"/>
            <a:ext cx="309872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21" kern="0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3578" y="3287018"/>
            <a:ext cx="28447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Portal Fatigue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3578" y="3760093"/>
            <a:ext cx="284472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Students spend hours navigating fragmented job portals filled with irrelevant listings.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9489" y="1651000"/>
            <a:ext cx="3352716" cy="4597400"/>
          </a:xfrm>
          <a:prstGeom prst="roundRect">
            <a:avLst>
              <a:gd name="adj" fmla="val 852"/>
            </a:avLst>
          </a:prstGeom>
          <a:solidFill>
            <a:srgbClr val="292E43"/>
          </a:solidFill>
          <a:ln/>
        </p:spPr>
      </p:sp>
      <p:sp>
        <p:nvSpPr>
          <p:cNvPr id="9" name="Text 7"/>
          <p:cNvSpPr/>
          <p:nvPr/>
        </p:nvSpPr>
        <p:spPr>
          <a:xfrm>
            <a:off x="4673483" y="3034308"/>
            <a:ext cx="309872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21" kern="0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73483" y="3287018"/>
            <a:ext cx="28447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Imposter Syndrome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73483" y="3760093"/>
            <a:ext cx="284472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Early-stage CS students abandon applications because complex requirements mask accessible entry-level roles.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394" y="1651000"/>
            <a:ext cx="3352716" cy="4597400"/>
          </a:xfrm>
          <a:prstGeom prst="roundRect">
            <a:avLst>
              <a:gd name="adj" fmla="val 852"/>
            </a:avLst>
          </a:prstGeom>
          <a:solidFill>
            <a:srgbClr val="292E43"/>
          </a:solidFill>
          <a:ln/>
        </p:spPr>
      </p:sp>
      <p:sp>
        <p:nvSpPr>
          <p:cNvPr id="13" name="Text 11"/>
          <p:cNvSpPr/>
          <p:nvPr/>
        </p:nvSpPr>
        <p:spPr>
          <a:xfrm>
            <a:off x="8483388" y="3034308"/>
            <a:ext cx="309872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21" kern="0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83388" y="3287018"/>
            <a:ext cx="28447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Application Burnout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83388" y="3760093"/>
            <a:ext cx="284472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Generic copy-pasted cover letters trigger recruiter spam filters and produce low response rates.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0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Solution: OpportunityRadar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747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00"/>
            <a:ext cx="3759106" cy="3200400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5" name="Shape 3"/>
          <p:cNvSpPr/>
          <p:nvPr/>
        </p:nvSpPr>
        <p:spPr>
          <a:xfrm>
            <a:off x="253994" y="3962400"/>
            <a:ext cx="1288125" cy="312341"/>
          </a:xfrm>
          <a:prstGeom prst="roundRect">
            <a:avLst>
              <a:gd name="adj" fmla="val 7319"/>
            </a:avLst>
          </a:prstGeom>
          <a:solidFill>
            <a:srgbClr val="4D002F"/>
          </a:solidFill>
          <a:ln/>
        </p:spPr>
      </p:sp>
      <p:sp>
        <p:nvSpPr>
          <p:cNvPr id="6" name="Text 4"/>
          <p:cNvSpPr/>
          <p:nvPr/>
        </p:nvSpPr>
        <p:spPr>
          <a:xfrm>
            <a:off x="368291" y="4019550"/>
            <a:ext cx="16691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24" kern="0" dirty="0">
                <a:solidFill>
                  <a:srgbClr val="DDE0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SKILL-FIRST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94" y="4354116"/>
            <a:ext cx="32511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Skill-First Matching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3994" y="4827191"/>
            <a:ext cx="325111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Matches opportunities against verified technical competencies rather than vague keyword searches.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16295" y="3657600"/>
            <a:ext cx="3759106" cy="3200400"/>
          </a:xfrm>
          <a:prstGeom prst="rect">
            <a:avLst/>
          </a:prstGeom>
          <a:solidFill>
            <a:srgbClr val="1E2A78"/>
          </a:solidFill>
          <a:ln/>
        </p:spPr>
      </p:sp>
      <p:sp>
        <p:nvSpPr>
          <p:cNvPr id="10" name="Shape 8"/>
          <p:cNvSpPr/>
          <p:nvPr/>
        </p:nvSpPr>
        <p:spPr>
          <a:xfrm>
            <a:off x="4470288" y="3962400"/>
            <a:ext cx="1095447" cy="312341"/>
          </a:xfrm>
          <a:prstGeom prst="roundRect">
            <a:avLst>
              <a:gd name="adj" fmla="val 7319"/>
            </a:avLst>
          </a:prstGeom>
          <a:solidFill>
            <a:srgbClr val="4D002F"/>
          </a:solidFill>
          <a:ln/>
        </p:spPr>
      </p:sp>
      <p:sp>
        <p:nvSpPr>
          <p:cNvPr id="11" name="Text 9"/>
          <p:cNvSpPr/>
          <p:nvPr/>
        </p:nvSpPr>
        <p:spPr>
          <a:xfrm>
            <a:off x="4584585" y="4019550"/>
            <a:ext cx="147643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24" kern="0" dirty="0">
                <a:solidFill>
                  <a:srgbClr val="DDE0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98% · 85%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70288" y="4354116"/>
            <a:ext cx="32511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Transparent Match Scores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70288" y="4827191"/>
            <a:ext cx="325111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Instant scoring (e.g., 98% Generative AI Workshop, 85% Medhavi Web3 Hackathon) helps students focus on their highest-probability roles.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32589" y="3657600"/>
            <a:ext cx="3759106" cy="3200400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583" y="3962400"/>
            <a:ext cx="1962299" cy="312341"/>
          </a:xfrm>
          <a:prstGeom prst="roundRect">
            <a:avLst>
              <a:gd name="adj" fmla="val 7319"/>
            </a:avLst>
          </a:prstGeom>
          <a:solidFill>
            <a:srgbClr val="4D002F"/>
          </a:solidFill>
          <a:ln/>
        </p:spPr>
      </p:sp>
      <p:sp>
        <p:nvSpPr>
          <p:cNvPr id="16" name="Text 14"/>
          <p:cNvSpPr/>
          <p:nvPr/>
        </p:nvSpPr>
        <p:spPr>
          <a:xfrm>
            <a:off x="8800880" y="4019550"/>
            <a:ext cx="234329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24" kern="0" dirty="0">
                <a:solidFill>
                  <a:srgbClr val="DDE0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PUNE · MAHARASHTRA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583" y="4354116"/>
            <a:ext cx="32511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Regional Student Curation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583" y="4827191"/>
            <a:ext cx="325111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Surfaces verified tech events, internships, and hackathons across Pune and Maharashtra.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0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Features &amp; AI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747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1000"/>
            <a:ext cx="34543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Dynamic Multi-Select Filtering: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71700"/>
            <a:ext cx="3454314" cy="38100"/>
          </a:xfrm>
          <a:prstGeom prst="roundRect">
            <a:avLst>
              <a:gd name="adj" fmla="val 49999"/>
            </a:avLst>
          </a:prstGeom>
          <a:solidFill>
            <a:srgbClr val="FF3FB4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371725"/>
            <a:ext cx="34543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Real-time state updates across technical skills (Python, JavaScript, SQL, C++) and event types.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68691" y="1651000"/>
            <a:ext cx="34543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AI Cold Application Pitch: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68691" y="2171700"/>
            <a:ext cx="3454314" cy="38100"/>
          </a:xfrm>
          <a:prstGeom prst="roundRect">
            <a:avLst>
              <a:gd name="adj" fmla="val 49999"/>
            </a:avLst>
          </a:prstGeom>
          <a:solidFill>
            <a:srgbClr val="FF3FB4"/>
          </a:solidFill>
          <a:ln/>
        </p:spPr>
      </p:sp>
      <p:sp>
        <p:nvSpPr>
          <p:cNvPr id="9" name="Text 7"/>
          <p:cNvSpPr/>
          <p:nvPr/>
        </p:nvSpPr>
        <p:spPr>
          <a:xfrm>
            <a:off x="4368691" y="2371725"/>
            <a:ext cx="34543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Drafts a tailored 3-sentence outreach note directly connecting candidate strengths to role requirements.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7797" y="1651000"/>
            <a:ext cx="34543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Human-in-the-Loop Review: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2171700"/>
            <a:ext cx="3454314" cy="38100"/>
          </a:xfrm>
          <a:prstGeom prst="roundRect">
            <a:avLst>
              <a:gd name="adj" fmla="val 49999"/>
            </a:avLst>
          </a:prstGeom>
          <a:solidFill>
            <a:srgbClr val="FF3FB4"/>
          </a:solidFill>
          <a:ln/>
        </p:spPr>
      </p:sp>
      <p:sp>
        <p:nvSpPr>
          <p:cNvPr id="12" name="Text 10"/>
          <p:cNvSpPr/>
          <p:nvPr/>
        </p:nvSpPr>
        <p:spPr>
          <a:xfrm>
            <a:off x="8127797" y="2371725"/>
            <a:ext cx="34543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Includes a 1-click clipboard copy that preserves candidate authenticity and avoids automated bot spam filters.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0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Tech Stack &amp;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747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091855"/>
            <a:ext cx="7040783" cy="3766145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3447455"/>
            <a:ext cx="673599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21" kern="0" dirty="0">
                <a:solidFill>
                  <a:srgbClr val="DDE0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792" y="3700165"/>
            <a:ext cx="6431198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spc="-56" kern="0" dirty="0">
                <a:solidFill>
                  <a:srgbClr val="DDE0E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OpportunityRadar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4792" y="4270375"/>
            <a:ext cx="298700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4792" y="4743450"/>
            <a:ext cx="298700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React 18, TypeScript, Tailwind CSS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8986" y="4270375"/>
            <a:ext cx="298700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Build &amp; Hosting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8986" y="4743450"/>
            <a:ext cx="298700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Vite bundler deployed via Bolt cloud edge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4792" y="5753100"/>
            <a:ext cx="643119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Icons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4792" y="6226175"/>
            <a:ext cx="643119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Lucide React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7873" y="3091855"/>
            <a:ext cx="4693822" cy="3766145"/>
          </a:xfrm>
          <a:prstGeom prst="rect">
            <a:avLst/>
          </a:prstGeom>
          <a:solidFill>
            <a:srgbClr val="1E2A78"/>
          </a:solidFill>
          <a:ln/>
        </p:spPr>
      </p:sp>
      <p:sp>
        <p:nvSpPr>
          <p:cNvPr id="14" name="Text 12"/>
          <p:cNvSpPr/>
          <p:nvPr/>
        </p:nvSpPr>
        <p:spPr>
          <a:xfrm>
            <a:off x="7802665" y="4287242"/>
            <a:ext cx="438903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21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INTEGRATION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02665" y="4539952"/>
            <a:ext cx="4084238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00" spc="-56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Data Model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802665" y="5110163"/>
            <a:ext cx="408423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Decoupled JSON schema structured for fast integration with college placement cell APIs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14042" y="4270375"/>
            <a:ext cx="12700" cy="1254125"/>
          </a:xfrm>
          <a:prstGeom prst="rect">
            <a:avLst/>
          </a:prstGeom>
          <a:solidFill>
            <a:srgbClr val="2A3358"/>
          </a:solidFill>
          <a:ln/>
        </p:spPr>
      </p:sp>
      <p:sp>
        <p:nvSpPr>
          <p:cNvPr id="18" name="Shape 16"/>
          <p:cNvSpPr/>
          <p:nvPr/>
        </p:nvSpPr>
        <p:spPr>
          <a:xfrm>
            <a:off x="304792" y="5518150"/>
            <a:ext cx="6431198" cy="12700"/>
          </a:xfrm>
          <a:prstGeom prst="rect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80" kern="0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Roadmap &amp; Future Vision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747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4" name="Shape 2"/>
          <p:cNvSpPr/>
          <p:nvPr/>
        </p:nvSpPr>
        <p:spPr>
          <a:xfrm>
            <a:off x="787380" y="2816225"/>
            <a:ext cx="393690" cy="393700"/>
          </a:xfrm>
          <a:prstGeom prst="ellipse">
            <a:avLst/>
          </a:prstGeom>
          <a:noFill/>
          <a:ln w="25399">
            <a:solidFill>
              <a:srgbClr val="424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0403" y="291782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566" y="2822575"/>
            <a:ext cx="1003274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Phase 1 (Delivered MVP)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566" y="3295650"/>
            <a:ext cx="1021054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Dynamic matching engine, localized student feed, and AI pitch assistant.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7380" y="3927475"/>
            <a:ext cx="393690" cy="393700"/>
          </a:xfrm>
          <a:prstGeom prst="ellipse">
            <a:avLst/>
          </a:prstGeom>
          <a:noFill/>
          <a:ln w="25399">
            <a:solidFill>
              <a:srgbClr val="4247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0403" y="402907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566" y="3933825"/>
            <a:ext cx="1003274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Phase 2 (Immediate)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566" y="4406900"/>
            <a:ext cx="1021054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Direct ATS webhooks providing live vacancy counters and application deadline trackers.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7380" y="5038725"/>
            <a:ext cx="393690" cy="393700"/>
          </a:xfrm>
          <a:prstGeom prst="ellipse">
            <a:avLst/>
          </a:prstGeom>
          <a:noFill/>
          <a:ln w="25399">
            <a:solidFill>
              <a:srgbClr val="424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0403" y="514032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566" y="5045075"/>
            <a:ext cx="1003274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40" kern="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Phase 3 (Scale)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566" y="5518150"/>
            <a:ext cx="1003274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University Training &amp; Placement (T&amp;P) portal dashboards and automated WhatsApp alerts for ≥ 90% skill matches.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5" y="3743325"/>
            <a:ext cx="10972526" cy="12700"/>
          </a:xfrm>
          <a:prstGeom prst="rect">
            <a:avLst/>
          </a:prstGeom>
          <a:solidFill>
            <a:srgbClr val="2A335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4854575"/>
            <a:ext cx="10972526" cy="12700"/>
          </a:xfrm>
          <a:prstGeom prst="rect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3FB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2026-09-27T09:49:09Z</dcterms:created>
  <dcterms:modified xsi:type="dcterms:W3CDTF">2026-09-27T09:49:09Z</dcterms:modified>
</cp:coreProperties>
</file>